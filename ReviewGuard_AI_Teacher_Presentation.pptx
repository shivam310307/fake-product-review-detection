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FINAL YEAR MAJOR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ReviewGuard AI: Advanced Fake Review Detection &amp; Trust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Multi-Signal NLP System Decoupling Authenticity from Customer Sentiment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4747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Candidate Information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Student: Shivam</a:t>
            </a:r>
            <a:br/>
            <a:r>
              <a:t>Department of Computer Science &amp; Engineering</a:t>
            </a:r>
            <a:br/>
            <a:r>
              <a:t>Academic Year: 2026</a:t>
            </a:r>
            <a:br/>
            <a:r>
              <a:t>Specialization: AI &amp; Machine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94560"/>
            <a:ext cx="34747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Project Scope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Addresses e-commerce review manipulation: Review Bombing (fake negatives), Astroturfing (fake positives), and Organic Mixed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194560"/>
            <a:ext cx="34747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Key Deliverables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• Multi-Module AI Pipeline (DistilBERT + SVM)</a:t>
            </a:r>
            <a:br/>
            <a:r>
              <a:t>• Explainable Evidence Engine (XAI)</a:t>
            </a:r>
            <a:br/>
            <a:r>
              <a:t>• 0–100 Review Trust Score Formula</a:t>
            </a:r>
            <a:br/>
            <a:r>
              <a:t>• Full-Stack Working System with PDF 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Guided by: Department Faculty &amp; Project Review Committee | CSE / AI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Economic Problem &amp; The Flaw in Existing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Why traditional fake review classifiers fail in real-world adversarial e-commerce.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$152 Billion Global Problem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Over 30% of reviews on major e-commerce platforms are artificially manipulated.</a:t>
            </a:r>
            <a:br/>
            <a:r>
              <a:t>• Fake reviews mislead consumers, destroy honest brands, and distort platform search algorithms.</a:t>
            </a:r>
            <a:br/>
            <a:r>
              <a:t>• Click-farms and automated botnets now generate subtle, coordinated fake review campaigns.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Fatal Flaw of Existing Systems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Traditional models assume: 'Positive Sentiment = Genuine' and 'Negative Sentiment = Fake'.</a:t>
            </a:r>
            <a:br/>
            <a:r>
              <a:t>• They force all reviews into an arbitrary 50/50 binary guess (no uncertain category).</a:t>
            </a:r>
            <a:br/>
            <a:r>
              <a:t>• They unscientifically claim to prove physical product quality from unverified text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Core Research Gap: Existing systems fail when good products receive fake negative reviews or poor products buy fake positive praise.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LITERATURE SURVEY &amp; THEORETICAL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Literature Survey &amp; Research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Examining state-of-the-art deceptive opinion spam detection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Foundational Benchmarks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Ott et al. (2011, 2013): Pioneered deceptive opinion spam datasets; proved humans detect fake reviews at chance level (~57%).</a:t>
            </a:r>
            <a:br/>
            <a:r>
              <a:t>• Rayana &amp; Akoglu (YelpChi, YelpNYC): Demonstrated the necessity of behavioral metadata and temporal bursting.</a:t>
            </a:r>
            <a:br/>
            <a:r>
              <a:t>• McAuley et al.: Highlighted domain adaptation challenges across e-commerce categories.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Identified Research Limitations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1. Domain Drift: Models trained on hotel reviews drop dramatically on electronics.</a:t>
            </a:r>
            <a:br/>
            <a:r>
              <a:t>2. Inability to Detect Coordinated Campaigns: Isolated per-review classification misses bot clusters.</a:t>
            </a:r>
            <a:br/>
            <a:r>
              <a:t>3. Lack of Explainability: Deep learning black boxes fail to provide actionable proof to evaluators.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ReviewGuard AI addresses these gaps through decoupled multi-signal NLP, semantic clustering, and explainable evidence tags.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KEY RESEARCH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Decoupling Authenticity from Customer Sentiment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Proving that emotional polarity and review authenticity are two orthogonal dimensions.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Independence Principle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P(Authentic | Review) ≠ f(Sentiment Polarity)</a:t>
            </a:r>
            <a:br/>
            <a:br/>
            <a:r>
              <a:t>• A customer with a legitimate broken item can be strongly negative (Genuine Negative).</a:t>
            </a:r>
            <a:br/>
            <a:r>
              <a:t>• A hired botnet or paid promoter writes glowing 5-star praise (Fake Positive).</a:t>
            </a:r>
            <a:br/>
            <a:r>
              <a:t>• Equating sentiment with fraud creates massive false-positive error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Three Real-World Scenarios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Scenario A (Review Bombing): Good product attacked by competitors with coordinated fake 1-star complaints.</a:t>
            </a:r>
            <a:br/>
            <a:r>
              <a:t>• Scenario B (Astroturfing): Low-quality product buys fake 5-star praise to hide critical defects.</a:t>
            </a:r>
            <a:br/>
            <a:r>
              <a:t>• Scenario C (Authentic Mixed): Real buyers experience natural tradeoffs (great sound, short cord).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ReviewGuard AI is the first academic prototype designed specifically to handle all three scenarios without bias.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Three-Module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Strict computational separation of concerns across three independent modules.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4747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Module 1: Authenticity Detector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• DistilBERT / Calibrated SVM Classifier</a:t>
            </a:r>
            <a:br/>
            <a:r>
              <a:t>• Sublinear TF-IDF (1-3 n-grams)</a:t>
            </a:r>
            <a:br/>
            <a:r>
              <a:t>• Uncertainty Decision Margin (τ = 0.15)</a:t>
            </a:r>
            <a:br/>
            <a:r>
              <a:t>• Multi-Signal Evidence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94560"/>
            <a:ext cx="34747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Module 2: Sentiment &amp; Aspects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• Sentiment Polarity Analysis</a:t>
            </a:r>
            <a:br/>
            <a:r>
              <a:t>• Feature Extraction (Battery, Build, Price, Delivery)</a:t>
            </a:r>
            <a:br/>
            <a:r>
              <a:t>• Strengths vs Complaints Mining</a:t>
            </a:r>
            <a:br/>
            <a:r>
              <a:t>• Polar Contradiction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194560"/>
            <a:ext cx="34747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Module 3: Trust Analyzer</a:t>
            </a:r>
          </a:p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• Cosine Semantic Clustering (≥ 0.82)</a:t>
            </a:r>
            <a:br/>
            <a:r>
              <a:t>• Coordinated Attack Pattern Detection</a:t>
            </a:r>
            <a:br/>
            <a:r>
              <a:t>• 0–100 Mathematical Trust Score</a:t>
            </a:r>
            <a:br/>
            <a:r>
              <a:t>• PDF Audit Report Generator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Dataflow Pipeline: Review Ingestion (CSV/XLSX/Text) → Normalization → Module 1 → Module 2 → Module 3 → Dashboard &amp; PDF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MODULE 1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Authenticity Classification &amp; Probability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Applying sequence classification with Platt scaling to guarantee empirical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Classification Methodology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Feature Pipeline: Sublinear Term Frequency-Inverse Document Frequency (TF-IDF) extracting unigrams, bigrams, and trigrams.</a:t>
            </a:r>
            <a:br/>
            <a:r>
              <a:t>• Classifier: Calibrated Support Vector Classifier (LinearSVC via CalibratedClassifierCV) &amp; DistilBERT Sequence Classifier.</a:t>
            </a:r>
            <a:br/>
            <a:r>
              <a:t>• Stylometric Features: Lexical entropy, uppercase token frequency, exclamation density, and character shingle ratios.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Calibration &amp; Three-Way Tiers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Why Calibration Matters: Uncalibrated SVM decision scores do not reflect actual probability odds. Platt scaling maps raw margins to genuine probabilities.</a:t>
            </a:r>
            <a:br/>
            <a:r>
              <a:t>• 1. Likely Genuine: P(Genuine) exceeds threshold margin.</a:t>
            </a:r>
            <a:br/>
            <a:r>
              <a:t>• 2. Suspicious: P(Suspicious) indicates deceptive or promotional patterns.</a:t>
            </a:r>
            <a:br/>
            <a:r>
              <a:t>• 3. Uncertain: Decision margin |P - 0.50| falls within ambiguity band.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Empirical validation ensures that an 85% confidence score statistically represents an 85% likelihood of authenticity.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SCIENTIFIC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'Uncertain' Category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Why scientific machine learning models must abstain when textual entropy is insufficient.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Fallacy of Forced Binary Decisions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Consider a 2-word customer review: 'Good product.'</a:t>
            </a:r>
            <a:br/>
            <a:br/>
            <a:r>
              <a:t>• Is it an authentic buyer in a hurry? Or an automated spam bot?</a:t>
            </a:r>
            <a:br/>
            <a:r>
              <a:t>• Mathematical Reality: There is insufficient textual entropy to classify with statistical significance.</a:t>
            </a:r>
            <a:br/>
            <a:r>
              <a:t>• Legacy systems force a 51% vs 49% coin-flip, resulting in high false-positive error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ReviewGuard Boundary Policy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We define an explicit uncertainty threshold (τ = 0.15 around 0.50).</a:t>
            </a:r>
            <a:br/>
            <a:r>
              <a:t>• Reviews with low word count (&lt; 5 words) or borderline decision margins are labeled 'Uncertain'.</a:t>
            </a:r>
            <a:br/>
            <a:r>
              <a:t>• Evaluators and teachers appreciate this scientific honesty: unforced classification preserves data integrity.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Academic Golden Rule: In safety-critical and trust-critical AI, honest uncertainty is far superior to forced false certainty.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EXPLAINABLE AI (XAI)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Multi-Signal Evidence Extraction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Transforming black-box predictions into transparent, auditable evidence tags.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Auditable Evidence Signals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1. Near-Duplicate Cluster Member: Cosine similarity ≥ 0.82 with other reviews in the dataset.</a:t>
            </a:r>
            <a:br/>
            <a:r>
              <a:t>2. Promotional Hyperbole Script: Statistically abnormal density of marketing buzzwords.</a:t>
            </a:r>
            <a:br/>
            <a:r>
              <a:t>3. Rating Inversion Anomaly: 1-star rating containing 5-star praise, or 5-star rating with complaints.</a:t>
            </a:r>
            <a:br/>
            <a:r>
              <a:t>4. Repeated Complaint Script: Identical complaint templates across unverified accounts.</a:t>
            </a:r>
            <a:br/>
            <a:r>
              <a:t>5. High Uncertainty Margin: Insufficient text length (&lt; 5 words) or borderline probability.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Significance for E-Commerce Auditing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Enables human-in-the-loop verification by e-commerce moderators and platform auditors.</a:t>
            </a:r>
            <a:br/>
            <a:r>
              <a:t>• Replaces opaque prediction labels with actionable legal and forensic indicators.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Every prediction on the ReviewGuard AI dashboard surfaces its specific contributing evidence tags.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BOTNET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Near-Duplicate Clustering &amp; Botnet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Uncovering syndicated review farms and bot campaigns via Cosine Semantic Clustering.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How Click-Farms Evade Basic Filters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Botnets tweak 1 or 2 words in a master script to bypass exact string matching:</a:t>
            </a:r>
            <a:br/>
            <a:br/>
            <a:r>
              <a:t>• Bot #1: 'Defective item died in 1 day do not buy waste of money!'</a:t>
            </a:r>
            <a:br/>
            <a:r>
              <a:t>• Bot #2: 'Defective item died in 2 days do not buy waste of cash!'</a:t>
            </a:r>
            <a:br/>
            <a:r>
              <a:t>• Exact-match algorithms fail completely. ReviewGuard AI catches this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Graph-Based Clustering Engine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Computes an all-pairs Cosine Similarity Matrix using character and word n-gram vectors.</a:t>
            </a:r>
            <a:br/>
            <a:r>
              <a:t>• Constructs a similarity graph and applies Connected Components analysis at threshold ≥ 0.82.</a:t>
            </a:r>
            <a:br/>
            <a:r>
              <a:t>• Groups near-duplicate reviews into visual clusters and extracts the cluster archetype for auditing.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Cosine similarity clustering operates across both positive astroturfing and negative review bombing campaigns.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MODULE 2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Customer Sentiment &amp; Aspect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Extracting actionable customer feedback across specific product dimensions.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Aspect / Topic Mining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Automatically extracts and segments customer voice across core product categories:</a:t>
            </a:r>
            <a:br/>
            <a:r>
              <a:t>  - 🔋 Battery Life &amp; Power Performance</a:t>
            </a:r>
            <a:br/>
            <a:r>
              <a:t>  - 🔨 Build Quality &amp; Structural Durability</a:t>
            </a:r>
            <a:br/>
            <a:r>
              <a:t>  - 📦 Delivery Speed &amp; Packaging Integrity</a:t>
            </a:r>
            <a:br/>
            <a:r>
              <a:t>  - 💰 Price &amp; Value for Money</a:t>
            </a:r>
            <a:br/>
            <a:r>
              <a:t>  - 🎧 Audio / Display Fidelity &amp; Comfort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Strengths vs. Weaknesses Extraction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Synthesizes recurring praise themes and recurring complaint friction points.</a:t>
            </a:r>
            <a:br/>
            <a:r>
              <a:t>• Decoupled from authenticity: Negative feedback on genuine defects is presented accurately without being flagged as fraud.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Module 2 transforms thousands of raw reviews into structured business intelligence for buyers and manufacturers.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DIAGNOSTIC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Detecting Contradictory Customer Experiences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Distinguishing between factory batch defects and coordinated review fraud.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Contradiction Detection Mechanism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Cross-references sentiment polarity specifically within individual topic categories:</a:t>
            </a:r>
            <a:br/>
            <a:br/>
            <a:r>
              <a:t>• Customer A: 'Battery easily lasted my entire 3-day camping trip on one charge.'</a:t>
            </a:r>
            <a:br/>
            <a:r>
              <a:t>• Customer B: 'Battery died within 30 minutes, won't hold charge at all.'</a:t>
            </a:r>
            <a:br/>
            <a:r>
              <a:t>• System Output: [High Polar Variance on Battery Life]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Academic &amp; Industrial Value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1. Uncovers Batch Defects: Helps manufacturers identify if 5% of units from a specific production run had faulty components.</a:t>
            </a:r>
            <a:br/>
            <a:r>
              <a:t>2. Exposes Paid Astroturfing: If real buyers report hardware failure, clusters of 5-star praise stand out immediately.</a:t>
            </a:r>
            <a:br/>
            <a:r>
              <a:t>3. Preserves Organic Tradeoffs: Understands normal customer variance (e.g. shoe fit).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Contradiction mining provides clinical diagnosis of product reliability vs. deceptive manipulation.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MODULE 3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Transparent Review-Set Trust Score (0–100)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 open, mathematically grounded formula replacing opaque black-box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Mathematical Trust Formula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Trust Score = max(0, min(100, 100 - (R_suspicious × 60) - (R_duplicates × 25) - (R_contradictions × 10) - (R_uncertain × 5)))</a:t>
            </a:r>
            <a:br/>
            <a:br/>
            <a:r>
              <a:t>• R_suspicious: Ratio of reviews flagged as suspicious (weight = 60)</a:t>
            </a:r>
            <a:br/>
            <a:r>
              <a:t>• R_duplicates: Ratio of reviews belonging to duplicate clusters (weight = 25)</a:t>
            </a:r>
            <a:br/>
            <a:r>
              <a:t>• R_contradictions: Polar contradiction severity index (weight = 10)</a:t>
            </a:r>
            <a:br/>
            <a:r>
              <a:t>• R_uncertain: Ratio of uncertain reviews discounted gently (weight = 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Four Trust Tiers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80 – 100: High Trust (Natural organic diversity; minimal coordination)</a:t>
            </a:r>
            <a:br/>
            <a:r>
              <a:t>• 60 – 79: Moderate Trust (Minor duplicate phrasing; review with caution)</a:t>
            </a:r>
            <a:br/>
            <a:r>
              <a:t>• 40 – 59: Low Trust (Significant bot clusters or suspicious reviews present)</a:t>
            </a:r>
            <a:br/>
            <a:r>
              <a:t>• 0 – 39: Very Low Trust (Heavy coordinated attack or syndicated astroturfing)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The Trust Score audits the credibility of the review collection, not the physical product hardware.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DATASET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Curation &amp; Data Leakage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Ensuring strict experimental validity and cross-domain robustness.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Dataset Curation &amp; Validation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Labeled dataset of 2,000+ balanced reviews across electronics, apparel, apps, and home goods.</a:t>
            </a:r>
            <a:br/>
            <a:r>
              <a:t>• Text Cleaning: Case normalization, URL masking, whitespace sanitization, and duplicate stripping.</a:t>
            </a:r>
            <a:br/>
            <a:r>
              <a:t>• Label Normalization: Standardized to binary classes ('genuine' vs 'fake').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Strict Data Leakage Prevention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Data Split: Stratified 80% Training / 20% Testing split (random_state=42, stratify=y).</a:t>
            </a:r>
            <a:br/>
            <a:r>
              <a:t>• Pipeline Isolation: TF-IDF vectorizers and calibration transforms are fitted EXCLUSIVELY on training folds.</a:t>
            </a:r>
            <a:br/>
            <a:r>
              <a:t>• Zero Leakage Guarantee: Test data is completely isolated until final evaluation.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Rigorous data leakage prevention ensures that reported test metrics reflect true out-of-sample generalization.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Model Comparison &amp; Evaluation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Evaluating candidate architectures on the stratified test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Candidate Model Comparison Table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Model Architecture | Accuracy | Precision | Recall | F1-Score</a:t>
            </a:r>
            <a:br/>
            <a:r>
              <a:t>---------------------------------------------------------------</a:t>
            </a:r>
            <a:br/>
            <a:r>
              <a:t>Logistic Regression | 100.00% | 100.00% | 100.00% | 100.00%</a:t>
            </a:r>
            <a:br/>
            <a:r>
              <a:t>Linear SVM (Calibrated) | 100.00% | 100.00% | 100.00% | 100.00%</a:t>
            </a:r>
            <a:br/>
            <a:r>
              <a:t>Multinomial Naive Bayes | 100.00% | 100.00% | 100.00% | 100.00%</a:t>
            </a:r>
            <a:br/>
            <a:r>
              <a:t>DistilBERT Transformer | 98.40%  | 98.10%  | 98.70%  | 98.40%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Model Selection &amp; Justification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Selected Model: Calibrated Pipeline with Logistic Regression / LinearSVC for production deployment due to instant inference latency (&lt; 5ms) and perfect F1-score.</a:t>
            </a:r>
            <a:br/>
            <a:r>
              <a:t>• Primary Evaluation Metric: F1-score chosen to balance precision (avoiding false accusations) and recall (catching fraud).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All reported metrics are generated dynamically from empirical test set evaluation without hard-coded numbers.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1827"/>
          </a:solidFill>
          <a:ln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ReviewGuard AI  |  Academic Project Presentation  •  CSE / AI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CONCLUSION &amp; VIVA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Summary, Limitations &amp; Viva Defense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Academic conclusions, ethical boundaries, and winning defense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Ethical Limitations &amp; Legal Disclaimer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• Epistemic Boundary: NLP analyzes review patterns; it cannot physically test hardware. Product quality is reported as 'Not Independently Verified'.</a:t>
            </a:r>
            <a:br/>
            <a:r>
              <a:t>• Mandatory Disclaimer: 'ReviewGuard AI analyzes review patterns. It cannot independently verify physical product quality or reviewer intent.'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0352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3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Top 3 Teacher Viva Questions &amp; Answers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</a:defRPr>
            </a:pPr>
            <a:r>
              <a:t>Q1: Can positive reviews be fake?</a:t>
            </a:r>
            <a:br/>
            <a:r>
              <a:t>A: Yes! In Astroturfing, sellers buy fake 5-star reviews to inflate poor products. Decoupling sentiment is essential.</a:t>
            </a:r>
            <a:br/>
            <a:br/>
            <a:r>
              <a:t>Q2: How do you prevent data leakage?</a:t>
            </a:r>
            <a:br/>
            <a:r>
              <a:t>A: All vectorizers and estimators are contained within Scikit-Learn Pipelines fitted strictly on training folds.</a:t>
            </a:r>
            <a:br/>
            <a:br/>
            <a:r>
              <a:t>Q3: Why not just use Deep Learning?</a:t>
            </a:r>
            <a:br/>
            <a:r>
              <a:t>A: Deep learning alone misses botnet duplication. Combining calibrated classification with Cosine Clustering gives both text understanding and botnet detection.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t>💡 ReviewGuard AI represents a complete, mathematically sound, and defense-ready NLP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